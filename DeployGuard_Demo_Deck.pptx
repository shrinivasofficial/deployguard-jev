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FD3BE"/>
                </a:solidFill>
                <a:latin typeface="Aptos"/>
              </a:defRPr>
            </a:pPr>
            <a:r>
              <a:t>SYSTEM ONE MODELS · PRACTICAL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5F7FA"/>
                </a:solidFill>
                <a:latin typeface="Aptos"/>
              </a:defRPr>
            </a:pPr>
            <a:r>
              <a:t>DeployGuard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AAB8CA"/>
                </a:solidFill>
                <a:latin typeface="Aptos"/>
              </a:defRPr>
            </a:pPr>
            <a:r>
              <a:t>JEV-powered deployment 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1605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Turn PR context into structured decisions.</a:t>
            </a:r>
          </a:p>
          <a:p>
            <a:pPr>
              <a:spcAft>
                <a:spcPts val="800"/>
              </a:spcAft>
              <a:defRPr sz="1900" b="0">
                <a:solidFill>
                  <a:srgbClr val="F5F7FA"/>
                </a:solidFill>
                <a:latin typeface="Aptos"/>
              </a:defRPr>
            </a:pPr>
            <a:r>
              <a:t>Let ordinary code own the deployment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143000"/>
            <a:ext cx="3520440" cy="448056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AAB8CA"/>
                </a:solidFill>
                <a:latin typeface="Aptos"/>
              </a:defRPr>
            </a:pPr>
            <a:r>
              <a:t>PR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Diff · Tests ·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FD3BE"/>
                </a:solidFill>
                <a:latin typeface="Aptos"/>
              </a:defRPr>
            </a:pPr>
            <a:r>
              <a:t>JEV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461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Risk · Impact</a:t>
            </a:r>
          </a:p>
          <a:p>
            <a:pPr>
              <a:spcAft>
                <a:spcPts val="8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Blast radius ·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C25C"/>
                </a:solidFill>
                <a:latin typeface="Aptos"/>
              </a:defRPr>
            </a:pPr>
            <a:r>
              <a:t>PYTHON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548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Canary · Review</a:t>
            </a:r>
          </a:p>
          <a:p>
            <a:pPr>
              <a:spcAft>
                <a:spcPts val="800"/>
              </a:spcAft>
              <a:defRPr sz="1800" b="1">
                <a:solidFill>
                  <a:srgbClr val="F5F7FA"/>
                </a:solidFill>
                <a:latin typeface="Aptos"/>
              </a:defRPr>
            </a:pPr>
            <a:r>
              <a:t>Block · Candidate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72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Prototype scope: CLI only · No UI, GitHub integration, or production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Passing CI does not mean low deployment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A"/>
                </a:solidFill>
                <a:latin typeface="Aptos"/>
              </a:defRPr>
            </a:pPr>
            <a:r>
              <a:t>Traditional checks answer whether known conditions passed. They don't fully express contextual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148840" cy="123444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95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FD3BE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7FA"/>
                </a:solidFill>
                <a:latin typeface="Aptos"/>
              </a:defRPr>
            </a:pPr>
            <a:r>
              <a:t>Does it compile?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48840"/>
            <a:ext cx="2148840" cy="123444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2395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70A4FF"/>
                </a:solidFill>
                <a:latin typeface="Aptos"/>
              </a:defRPr>
            </a:pPr>
            <a: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7FA"/>
                </a:solidFill>
                <a:latin typeface="Aptos"/>
              </a:defRPr>
            </a:pPr>
            <a:r>
              <a:t>Did the tests pass?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148840"/>
            <a:ext cx="2148840" cy="123444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2395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C25C"/>
                </a:solidFill>
                <a:latin typeface="Aptos"/>
              </a:defRPr>
            </a:pPr>
            <a:r>
              <a:t>STATIC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7FA"/>
                </a:solidFill>
                <a:latin typeface="Aptos"/>
              </a:defRPr>
            </a:pPr>
            <a:r>
              <a:t>Did the scanners pass?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423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6F7D"/>
                </a:solidFill>
                <a:latin typeface="Aptos"/>
              </a:defRPr>
            </a:pPr>
            <a:r>
              <a:t>ALL PASS ≠</a:t>
            </a:r>
          </a:p>
          <a:p>
            <a:pPr>
              <a:spcAft>
                <a:spcPts val="800"/>
              </a:spcAft>
              <a:defRPr sz="2400" b="1">
                <a:solidFill>
                  <a:srgbClr val="FF6F7D"/>
                </a:solidFill>
                <a:latin typeface="Aptos"/>
              </a:defRPr>
            </a:pPr>
            <a:r>
              <a:t>LOW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10607040" cy="1417320"/>
          </a:xfrm>
          <a:prstGeom prst="round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07408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5F7FA"/>
                </a:solidFill>
                <a:latin typeface="Aptos"/>
              </a:defRPr>
            </a:pPr>
            <a:r>
              <a:t>A payment retry refactor can pass every check and still deserve a canary because of customer impact, blast radius, and limited test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02 · JEV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State in. Typed decisions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A"/>
                </a:solidFill>
                <a:latin typeface="Aptos"/>
              </a:defRPr>
            </a:pPr>
            <a:r>
              <a:t>JEV is not asked to write a review. It answers bounded questions that software can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331720" cy="214884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FD3BE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PR title</a:t>
            </a:r>
          </a:p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Diff metadata</a:t>
            </a:r>
          </a:p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Tests + service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788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FD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057400"/>
            <a:ext cx="2926080" cy="214884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FD3BE"/>
                </a:solidFill>
                <a:latin typeface="Aptos"/>
              </a:defRPr>
            </a:pPr>
            <a:r>
              <a:t>JEV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788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F7FA"/>
                </a:solidFill>
                <a:latin typeface="Aptos"/>
              </a:defRPr>
            </a:pPr>
            <a:r>
              <a:t>noul: regression?</a:t>
            </a:r>
          </a:p>
          <a:p>
            <a:pPr>
              <a:spcAft>
                <a:spcPts val="800"/>
              </a:spcAft>
              <a:defRPr sz="1600" b="1">
                <a:solidFill>
                  <a:srgbClr val="F5F7FA"/>
                </a:solidFill>
                <a:latin typeface="Aptos"/>
              </a:defRPr>
            </a:pPr>
            <a:r>
              <a:t>choice: risk area?</a:t>
            </a:r>
          </a:p>
          <a:p>
            <a:pPr>
              <a:spcAft>
                <a:spcPts val="800"/>
              </a:spcAft>
              <a:defRPr sz="1600" b="1">
                <a:solidFill>
                  <a:srgbClr val="F5F7FA"/>
                </a:solidFill>
                <a:latin typeface="Aptos"/>
              </a:defRPr>
            </a:pPr>
            <a:r>
              <a:t>score: blast radius?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788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3FD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057400"/>
            <a:ext cx="3566160" cy="214884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331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C25C"/>
                </a:solidFill>
                <a:latin typeface="Aptos"/>
              </a:defRPr>
            </a:pPr>
            <a:r>
              <a:t>PYTHON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7889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Combine signals</a:t>
            </a:r>
          </a:p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Apply explicit rules</a:t>
            </a:r>
          </a:p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Recommend a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AB8CA"/>
                </a:solidFill>
                <a:latin typeface="Aptos"/>
              </a:defRPr>
            </a:pPr>
            <a:r>
              <a:t>Important: a probability answers a specific question. It is not automatically the probability that a deployment will fail.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03 ·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One state. Several independent risk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A"/>
                </a:solidFill>
                <a:latin typeface="Aptos"/>
              </a:defRPr>
            </a:pPr>
            <a:r>
              <a:t>Illustrative output from the payment-retry PR response already obtained from JEV.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23160" cy="118872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AAB8CA"/>
                </a:solidFill>
                <a:latin typeface="Aptos"/>
              </a:defRPr>
            </a:pPr>
            <a:r>
              <a:t>Regression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C25C"/>
                </a:solidFill>
                <a:latin typeface="Aptos"/>
              </a:defRPr>
            </a:pPr>
            <a:r>
              <a:t>67%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011680"/>
            <a:ext cx="2423160" cy="118872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AAB8CA"/>
                </a:solidFill>
                <a:latin typeface="Aptos"/>
              </a:defRPr>
            </a:pPr>
            <a:r>
              <a:t>Customer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3347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6F7D"/>
                </a:solidFill>
                <a:latin typeface="Aptos"/>
              </a:defRPr>
            </a:pPr>
            <a:r>
              <a:t>92%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011680"/>
            <a:ext cx="2423160" cy="118872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AAB8CA"/>
                </a:solidFill>
                <a:latin typeface="Aptos"/>
              </a:defRPr>
            </a:pPr>
            <a:r>
              <a:t>Security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3347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FD3BE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11680"/>
            <a:ext cx="2423160" cy="118872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AAB8CA"/>
                </a:solidFill>
                <a:latin typeface="Aptos"/>
              </a:defRPr>
            </a:pPr>
            <a:r>
              <a:t>Risk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63347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70A4FF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5029200" cy="141732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FD3BE"/>
                </a:solidFill>
                <a:latin typeface="Aptos"/>
              </a:defRPr>
            </a:pPr>
            <a:r>
              <a:t>BLAST RADIUS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5F7FA"/>
                </a:solidFill>
                <a:latin typeface="Aptos"/>
              </a:defRPr>
            </a:pPr>
            <a:r>
              <a:t>Large · 91% probability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703320"/>
            <a:ext cx="5029200" cy="141732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C25C"/>
                </a:solidFill>
                <a:latin typeface="Aptos"/>
              </a:defRPr>
            </a:pPr>
            <a:r>
              <a:t>TEST ADEQUACY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5F7FA"/>
                </a:solidFill>
                <a:latin typeface="Aptos"/>
              </a:defRPr>
            </a:pPr>
            <a:r>
              <a:t>Poor · 62% probability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AB8CA"/>
                </a:solidFill>
                <a:latin typeface="Aptos"/>
              </a:defRPr>
            </a:pPr>
            <a:r>
              <a:t>Policy result: CANARY DEPLOYMENT (demo rule; not a validated production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04 · BEYOND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Automate the boring judgment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A"/>
                </a:solidFill>
                <a:latin typeface="Aptos"/>
              </a:defRPr>
            </a:pPr>
            <a:r>
              <a:t>Look for places where rules are brittle, decisions repeat at high volume, and outcomes can be checked.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37560" cy="132588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7FA"/>
                </a:solidFill>
                <a:latin typeface="Aptos"/>
              </a:defRPr>
            </a:pPr>
            <a:r>
              <a:t>Route tickets by intent, urgency, owner and escalation need.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337560" cy="132588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FRAUD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50592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7FA"/>
                </a:solidFill>
                <a:latin typeface="Aptos"/>
              </a:defRPr>
            </a:pPr>
            <a:r>
              <a:t>Score suspicious cases and send uncertain ones to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337560" cy="132588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50592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7FA"/>
                </a:solidFill>
                <a:latin typeface="Aptos"/>
              </a:defRPr>
            </a:pPr>
            <a:r>
              <a:t>Flag records that need manual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3337560" cy="132588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C25C"/>
                </a:solidFill>
                <a:latin typeface="Aptos"/>
              </a:defRPr>
            </a:pPr>
            <a:r>
              <a:t>AI AGENT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7FA"/>
                </a:solidFill>
                <a:latin typeface="Aptos"/>
              </a:defRPr>
            </a:pPr>
            <a:r>
              <a:t>Gate risky tool calls before they change data or send money.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337560" cy="132588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7490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C25C"/>
                </a:solidFill>
                <a:latin typeface="Aptos"/>
              </a:defRPr>
            </a:pPr>
            <a:r>
              <a:t>HIRING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7FA"/>
                </a:solidFill>
                <a:latin typeface="Aptos"/>
              </a:defRPr>
            </a:pPr>
            <a:r>
              <a:t>Rank evidence against job criteria; preserve human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66160"/>
            <a:ext cx="3337560" cy="1325880"/>
          </a:xfrm>
          <a:prstGeom prst="round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7490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C25C"/>
                </a:solidFill>
                <a:latin typeface="Aptos"/>
              </a:defRPr>
            </a:pPr>
            <a:r>
              <a:t>INCIDENT TRIAGE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96512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7FA"/>
                </a:solidFill>
                <a:latin typeface="Aptos"/>
              </a:defRPr>
            </a:pPr>
            <a:r>
              <a:t>Classify severity, likely owner and customer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05 · DECISION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JEV vs Laya vs Kev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A"/>
                </a:solidFill>
                <a:latin typeface="Aptos"/>
              </a:defRPr>
            </a:pPr>
            <a:r>
              <a:t>Similar interface idea; different ownership, deployment and capability trade-offs.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371600" cy="502920"/>
          </a:xfrm>
          <a:prstGeom prst="rect">
            <a:avLst/>
          </a:prstGeom>
          <a:solidFill>
            <a:srgbClr val="223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93391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FD3B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874519"/>
            <a:ext cx="2331720" cy="502920"/>
          </a:xfrm>
          <a:prstGeom prst="rect">
            <a:avLst/>
          </a:prstGeom>
          <a:solidFill>
            <a:srgbClr val="223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3432" y="1993391"/>
            <a:ext cx="21854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FD3BE"/>
                </a:solidFill>
                <a:latin typeface="Aptos"/>
              </a:defRPr>
            </a:pPr>
            <a:r>
              <a:t>WHAT IT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874519"/>
            <a:ext cx="3246120" cy="502920"/>
          </a:xfrm>
          <a:prstGeom prst="rect">
            <a:avLst/>
          </a:prstGeom>
          <a:solidFill>
            <a:srgbClr val="223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993391"/>
            <a:ext cx="3099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FD3BE"/>
                </a:solidFill>
                <a:latin typeface="Aptos"/>
              </a:defRPr>
            </a:pPr>
            <a:r>
              <a:t>WHY CONSIDER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874519"/>
            <a:ext cx="3154680" cy="502920"/>
          </a:xfrm>
          <a:prstGeom prst="rect">
            <a:avLst/>
          </a:prstGeom>
          <a:solidFill>
            <a:srgbClr val="223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993391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FD3BE"/>
                </a:solidFill>
                <a:latin typeface="Aptos"/>
              </a:defRPr>
            </a:pPr>
            <a:r>
              <a:t>WATCH-OUT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68879"/>
            <a:ext cx="137160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560320"/>
            <a:ext cx="1225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F7FA"/>
                </a:solidFill>
                <a:latin typeface="Aptos"/>
              </a:defRPr>
            </a:pPr>
            <a:r>
              <a:t>JEV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468879"/>
            <a:ext cx="233172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2560320"/>
            <a:ext cx="2185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TypeSafe hosted decision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468879"/>
            <a:ext cx="324612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560320"/>
            <a:ext cx="30998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Managed API; focused typed decisions and probabilities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468879"/>
            <a:ext cx="315468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560320"/>
            <a:ext cx="300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Closed/hosted; external API dependency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93008"/>
            <a:ext cx="137160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584448"/>
            <a:ext cx="1225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F7FA"/>
                </a:solidFill>
                <a:latin typeface="Aptos"/>
              </a:defRPr>
            </a:pPr>
            <a:r>
              <a:t>Laya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3493008"/>
            <a:ext cx="233172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13432" y="3584448"/>
            <a:ext cx="2185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Open-weight decision model by Convai Innovations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493008"/>
            <a:ext cx="324612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3584448"/>
            <a:ext cx="30998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Self-hosting and open-weight control; English/multilingual variants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493008"/>
            <a:ext cx="315468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584448"/>
            <a:ext cx="300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Shorter context on some checkpoints; benchmark on your task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517136"/>
            <a:ext cx="137160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608575"/>
            <a:ext cx="12252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F7FA"/>
                </a:solidFill>
                <a:latin typeface="Aptos"/>
              </a:defRPr>
            </a:pPr>
            <a:r>
              <a:t>Kev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4517136"/>
            <a:ext cx="233172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13432" y="4608575"/>
            <a:ext cx="2185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Open Jev-like model family based on Qwen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4517136"/>
            <a:ext cx="324612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3752" y="4608575"/>
            <a:ext cx="30998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Run/train your own; model sizes and customization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4517136"/>
            <a:ext cx="3154680" cy="868680"/>
          </a:xfrm>
          <a:prstGeom prst="rect">
            <a:avLst/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4608575"/>
            <a:ext cx="300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B8CA"/>
                </a:solidFill>
                <a:latin typeface="Aptos"/>
              </a:defRPr>
            </a:pPr>
            <a:r>
              <a:t>Ops/GPU and evaluation burden; quality varies by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C25C"/>
                </a:solidFill>
                <a:latin typeface="Aptos"/>
              </a:defRPr>
            </a:pPr>
            <a:r>
              <a:t>Don't claim a universal winner. Compare on your own PR set: quality, calibration, latency, cost, privacy and operational effort.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172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AAB8CA"/>
                </a:solidFill>
                <a:latin typeface="Aptos"/>
              </a:defRPr>
            </a:pPr>
            <a:r>
              <a:t>Sources: typesafe.ai/blog/introducing-system-one-models-and-jev · github.com/he-jev/laya · github.com/jaredpalmer/kev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FD3BE"/>
                </a:solidFill>
                <a:latin typeface="Aptos"/>
              </a:defRPr>
            </a:pPr>
            <a:r>
              <a:t>06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7FA"/>
                </a:solidFill>
                <a:latin typeface="Aptos"/>
              </a:defRPr>
            </a:pPr>
            <a:r>
              <a:t>Show the decision loop, not 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AB8CA"/>
                </a:solidFill>
                <a:latin typeface="Aptos"/>
              </a:defRPr>
            </a:pPr>
            <a:r>
              <a:t>A 3-minute live flow for tomorrow.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66928" cy="566928"/>
          </a:xfrm>
          <a:prstGeom prst="roundRect">
            <a:avLst/>
          </a:prstGeom>
          <a:solidFill>
            <a:srgbClr val="3F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142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470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Show PR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84708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AB8CA"/>
                </a:solidFill>
                <a:latin typeface="Aptos"/>
              </a:defRPr>
            </a:pPr>
            <a:r>
              <a:t>A payment retry change with tests and service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566928" cy="566928"/>
          </a:xfrm>
          <a:prstGeom prst="roundRect">
            <a:avLst/>
          </a:prstGeom>
          <a:solidFill>
            <a:srgbClr val="3F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26079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142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8072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Run JEV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80720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AB8CA"/>
                </a:solidFill>
                <a:latin typeface="Aptos"/>
              </a:defRPr>
            </a:pPr>
            <a:r>
              <a:t>Typed probabilities and score distributions appear.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39"/>
            <a:ext cx="566928" cy="566928"/>
          </a:xfrm>
          <a:prstGeom prst="roundRect">
            <a:avLst/>
          </a:prstGeom>
          <a:solidFill>
            <a:srgbClr val="3F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86200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142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6732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Show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767327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AB8CA"/>
                </a:solidFill>
                <a:latin typeface="Aptos"/>
              </a:defRPr>
            </a:pPr>
            <a:r>
              <a:t>Python applies explicit rules and recommends canary/review.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9160"/>
            <a:ext cx="566928" cy="566928"/>
          </a:xfrm>
          <a:prstGeom prst="roundRect">
            <a:avLst/>
          </a:prstGeom>
          <a:solidFill>
            <a:srgbClr val="3F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846320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142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274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F7FA"/>
                </a:solidFill>
                <a:latin typeface="Aptos"/>
              </a:defRPr>
            </a:pPr>
            <a:r>
              <a:t>Change the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72744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AB8CA"/>
                </a:solidFill>
                <a:latin typeface="Aptos"/>
              </a:defRPr>
            </a:pPr>
            <a:r>
              <a:t>Run UI and authentication fixtures; compare the decisions.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6016752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D3BE"/>
                </a:solidFill>
                <a:latin typeface="Aptos"/>
              </a:defRPr>
            </a:pPr>
            <a:r>
              <a:t>Close: JEV supplies judgment; ordinary software owns policy and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